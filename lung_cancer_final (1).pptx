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1" r:id="rId6"/>
    <p:sldId id="257" r:id="rId7"/>
    <p:sldId id="269" r:id="rId8"/>
    <p:sldId id="279" r:id="rId9"/>
    <p:sldId id="272" r:id="rId10"/>
    <p:sldId id="277" r:id="rId11"/>
    <p:sldId id="273" r:id="rId12"/>
    <p:sldId id="270" r:id="rId13"/>
    <p:sldId id="274" r:id="rId14"/>
    <p:sldId id="278" r:id="rId15"/>
    <p:sldId id="276" r:id="rId16"/>
    <p:sldId id="275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333333"/>
                </a:solidFill>
                <a:latin typeface="Arial"/>
              </a:rPr>
              <a:t>Top Features Driving Attrition (Random Forest)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9652891499004935"/>
          <c:y val="0.12681385415058416"/>
          <c:w val="0.64358705257436444"/>
          <c:h val="0.800789460141011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Monthly Income</c:v>
                </c:pt>
                <c:pt idx="1">
                  <c:v>Overtime</c:v>
                </c:pt>
                <c:pt idx="2">
                  <c:v>Age</c:v>
                </c:pt>
                <c:pt idx="3">
                  <c:v>Total Working Years</c:v>
                </c:pt>
                <c:pt idx="4">
                  <c:v>Years at Company</c:v>
                </c:pt>
                <c:pt idx="5">
                  <c:v>Job Satisfaction</c:v>
                </c:pt>
                <c:pt idx="6">
                  <c:v>Work-Life Balance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0.18</c:v>
                </c:pt>
                <c:pt idx="1">
                  <c:v>0.16</c:v>
                </c:pt>
                <c:pt idx="2">
                  <c:v>0.12</c:v>
                </c:pt>
                <c:pt idx="3">
                  <c:v>0.11</c:v>
                </c:pt>
                <c:pt idx="4">
                  <c:v>0.1</c:v>
                </c:pt>
                <c:pt idx="5">
                  <c:v>0.08</c:v>
                </c:pt>
                <c:pt idx="6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43-4DE1-909F-5BEAB0B785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5:01:33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google/?utm_source=chatgpt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982145"/>
            <a:ext cx="9144000" cy="587585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Paper Presentation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Impact of Genetics &amp; Environmental Factors</a:t>
            </a:r>
            <a:endParaRPr lang="en-US" b="1" dirty="0"/>
          </a:p>
          <a:p>
            <a:pPr algn="ctr"/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Chronic Lung Diseases</a:t>
            </a:r>
            <a:endParaRPr lang="en-US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Meharjot Singh Lamba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Ansh Mehta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Ayush Kumar Gupta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Lalit K. Sharma</a:t>
            </a:r>
            <a:endParaRPr 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Rajpura,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4697-9324-A5D6-080A-307619CA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44A8A-15EA-0663-2BD9-532BD9C55F8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89642" y="1150854"/>
            <a:ext cx="8573318" cy="4883085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Pre-processing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24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27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689576"/>
            <a:ext cx="8838720" cy="566694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&amp; Problem Statement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 cancer is one of the leading causes of cancer-related deaths worldwide, with late diagnosis significantly reducing survival rates.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Interstitial Lung Disease (ILD) encompasses 200+ disorders that cause scarring and inflammation of lung tissue.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factors such as smoking, pollution, and occupational exposure combine with genetic predisposition to worsen outcomes.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diagnostic methods are reactive — patients are identified at advanced stages when treatment options are limited.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enables early, accurate, data-driven detection using patient symptom and lifestyle features.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compare five Machine Learning models for lung cancer detection: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Naive Bayes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and AdaBoost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SMOTE class balancing and evaluate on Kaggle Lung Cancer dataset (900 records, 15 features).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standardized metrics: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and F1-Score 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F363CC-85E0-5B91-434A-99AB47FD2B57}"/>
                  </a:ext>
                </a:extLst>
              </p14:cNvPr>
              <p14:cNvContentPartPr/>
              <p14:nvPr/>
            </p14:nvContentPartPr>
            <p14:xfrm>
              <a:off x="11647337" y="200300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F363CC-85E0-5B91-434A-99AB47FD2B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41217" y="1996886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E592B62-27BF-54B1-12E5-7CACF861D2BC}"/>
              </a:ext>
            </a:extLst>
          </p:cNvPr>
          <p:cNvSpPr/>
          <p:nvPr/>
        </p:nvSpPr>
        <p:spPr>
          <a:xfrm>
            <a:off x="8447314" y="6356520"/>
            <a:ext cx="239126" cy="28774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7516-6EB4-3A29-CC54-285820513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FB12B-BCB7-3C72-DD83-3293108859A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81966" y="631012"/>
            <a:ext cx="8380068" cy="577899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 diseases have traditionally been diagnosed using HRCT scans, spirometry, bronchoscopy, and biopsy all requiring specialist infrastructure.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approaches are expensive, time-consuming, and often unavailable in low-resource settings.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methods are reactive —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are typically diagnosed at advanced stages, dramatically limiting treatment options.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in Medical Diagnosis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has emerged as a powerful early-detection tool, analyzing symptom and lifestyle data to predict lung cancer risk with high accuracy.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studies (Smith 2018 - 82.4%; Pandey 2021 - 91.0%) demonstrate the potential of ML, though accuracy gaps remain significant.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u="sng" dirty="0"/>
              <a:t>Research Gap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work tested limited classifier combinations and did not address class imbalance — a critical flaw in medical datasets.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addresses the gap by comparing five classifiers with and without SMOTE balancing, achieving 98.92% accuracy surpassing all prior results.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18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95C2-585D-7C38-3054-32D31E0C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8AD2B5A-3190-656F-C23B-65A1E73C934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23188" y="914040"/>
            <a:ext cx="8620812" cy="514703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3.x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implementing all ML models, data preprocessing, SMOTE balancing, and visualization. 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Framework: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+ imbalanced-learn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build RF, AdaBoost, KNN, LR, GNB models; imbalanced-learn used for SMOTE oversampling. 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&amp; Preprocessing: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: Loading, cleaning, label encoding, and binary feature normalisation. </a:t>
            </a:r>
          </a:p>
          <a:p>
            <a:pPr lvl="1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: Numerical computations and array operations. 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Tools: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: Bar charts and accuracy comparison graphs. </a:t>
            </a:r>
          </a:p>
          <a:p>
            <a:pPr lvl="1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heatmaps and feature correlation plots. 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/ Dataset: Used for coding, testing, and model execution. 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Dataset: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Lung Cancer Dataset 900 records, 15 lifestyle and symptom features, binary target (YES/NO). 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Strategy: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Training : 30% Testing with stratified sampling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applied exclusively on training set to prevent data leakage. </a:t>
            </a:r>
          </a:p>
          <a:p>
            <a:pPr>
              <a:lnSpc>
                <a:spcPct val="150000"/>
              </a:lnSpc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1136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B463-AA8A-B40E-9624-2C0D0AEE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Used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BC89C9-2FDC-69BB-C8D8-39FBC87B7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89" y="1682342"/>
            <a:ext cx="2670279" cy="3493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507B1-462A-E933-E808-0C0D95871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15" y="1682344"/>
            <a:ext cx="2670279" cy="3493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B8EC0C-9599-4B0C-2787-5504E51B7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521" y="1682343"/>
            <a:ext cx="2670279" cy="34933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648BBC-B01B-05DD-5BB8-57CE390F4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27" y="2646711"/>
            <a:ext cx="2560542" cy="26580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30CBA5-AF06-6D13-2E22-118BB2A0C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818" y="2006576"/>
            <a:ext cx="2651990" cy="6401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5477BB-B324-85C5-37F2-C91FDEF4B9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598" y="2581778"/>
            <a:ext cx="2560542" cy="2658086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EBEEF2B1-942D-A257-F16D-DD5A6168B853}"/>
              </a:ext>
            </a:extLst>
          </p:cNvPr>
          <p:cNvSpPr/>
          <p:nvPr/>
        </p:nvSpPr>
        <p:spPr>
          <a:xfrm>
            <a:off x="3113591" y="200657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AdaBoost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6E3EA76-C6BE-0B44-205F-B225CFA4C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2985" y="2581778"/>
            <a:ext cx="2560542" cy="265808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C43FB06-BDBA-2286-56B9-1252F60371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2078" y="2060778"/>
            <a:ext cx="2651990" cy="5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95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C09C-D468-6DAA-B937-12A1C909F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19743"/>
            <a:ext cx="5954486" cy="91404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Methodology: Dataset &amp; Pre-processing Pipeline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47CFBE-9CFE-A86E-9F33-BB1DADE81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34" y="2507189"/>
            <a:ext cx="4115157" cy="28210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846A18-A867-D201-3F6D-B9157AC4A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133" y="2556902"/>
            <a:ext cx="4115157" cy="2743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C58506-6A9E-B1A1-B499-62B0AE6D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7" y="1935836"/>
            <a:ext cx="4133446" cy="3779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DEE353-C63C-E434-7A33-4533FFB75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4820" y="1915757"/>
            <a:ext cx="4133446" cy="3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51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BEBB-9D7E-DAEC-0C3F-537B2FF91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21" y="89806"/>
            <a:ext cx="5486040" cy="914040"/>
          </a:xfrm>
        </p:spPr>
        <p:txBody>
          <a:bodyPr/>
          <a:lstStyle/>
          <a:p>
            <a:b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Results: Classifier Accuracy Comparison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9B92C-9061-BE14-13BE-56CCCF000EA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890975" y="2732314"/>
            <a:ext cx="2181332" cy="79866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32774-2C12-B9A8-D890-374FCF765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94" y="1214288"/>
            <a:ext cx="5303980" cy="3834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00EE5C-3237-4D12-06FB-07CE1E1DC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661" y="1645532"/>
            <a:ext cx="3002583" cy="45478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275A07-A6DD-1FEA-020C-2C1C47F42755}"/>
              </a:ext>
            </a:extLst>
          </p:cNvPr>
          <p:cNvSpPr txBox="1"/>
          <p:nvPr/>
        </p:nvSpPr>
        <p:spPr>
          <a:xfrm>
            <a:off x="5592686" y="1276200"/>
            <a:ext cx="4689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33910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3A84-0DF9-A3A1-7286-8F9E99D1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Random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Higher Accuracy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59305-DDEA-E2E8-D93B-E271683A7CE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94767" y="579388"/>
            <a:ext cx="8554466" cy="6278612"/>
          </a:xfrm>
        </p:spPr>
        <p:txBody>
          <a:bodyPr/>
          <a:lstStyle/>
          <a:p>
            <a:pPr marL="400050" indent="-400050">
              <a:buFont typeface="+mj-lt"/>
              <a:buAutoNum type="romanU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an ensemble learning method that combines predictions from multiple decision trees using bagging reducing variance and overfitting.</a:t>
            </a:r>
          </a:p>
          <a:p>
            <a:pPr marL="400050" indent="-400050">
              <a:buFont typeface="+mj-lt"/>
              <a:buAutoNum type="romanU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single classifiers, RF aggregates outputs from 10 trees using majority voting, achieving 99.98% accuracy the highest across all five models.</a:t>
            </a:r>
          </a:p>
          <a:p>
            <a:pPr marL="400050" indent="-400050">
              <a:buFont typeface="+mj-lt"/>
              <a:buAutoNum type="romanU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reduces overfitting by introducing randomness in both data sampling (bagging) and feature selection (feature bagging) during training.</a:t>
            </a:r>
          </a:p>
          <a:p>
            <a:pPr marL="400050" indent="-400050">
              <a:buFont typeface="+mj-lt"/>
              <a:buAutoNum type="romanU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captures complex non-linear relationships between lung cancer risk factors such as smoking, chronic disease, wheezing, and chest pain.</a:t>
            </a:r>
          </a:p>
          <a:p>
            <a:pPr marL="400050" indent="-400050">
              <a:buFont typeface="+mj-lt"/>
              <a:buAutoNum type="romanU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robustly on mixed data both numerical (age) and binary symptom features (0/1) without requiring extensive normalisation.</a:t>
            </a:r>
          </a:p>
          <a:p>
            <a:pPr marL="400050" indent="-400050">
              <a:buFont typeface="+mj-lt"/>
              <a:buAutoNum type="romanU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achieved 100% precision meaning every cancer prediction made was correct a critical result for medical diagnostic use.</a:t>
            </a:r>
          </a:p>
          <a:p>
            <a:pPr marL="400050" indent="-400050">
              <a:buFont typeface="+mj-lt"/>
              <a:buAutoNum type="romanU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+ RF together achieved 98.92%+ accuracy across the board, outperforming all five prior studies in the literature review.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898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E543-DC4E-05BE-76F4-98EAE656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11686" cy="914040"/>
          </a:xfrm>
        </p:spPr>
        <p:txBody>
          <a:bodyPr/>
          <a:lstStyle/>
          <a:p>
            <a:b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</a:br>
            <a:r>
              <a:rPr lang="en-US" sz="2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Performance Metrics With SMOTE Balancing</a:t>
            </a:r>
            <a:br>
              <a:rPr lang="en-US" sz="2800" dirty="0"/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E8F48-13B7-42B9-6A81-1C72C3B5B8A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0" y="914040"/>
            <a:ext cx="8686440" cy="5769564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Performance Metrics — With SMOTE Balancing</a:t>
            </a:r>
            <a:endParaRPr lang="en-US" dirty="0"/>
          </a:p>
          <a:p>
            <a:endParaRPr lang="en-IN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719248D4-A877-3E97-2683-8B47EEAAE0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60884"/>
              </p:ext>
            </p:extLst>
          </p:nvPr>
        </p:nvGraphicFramePr>
        <p:xfrm>
          <a:off x="182519" y="1267434"/>
          <a:ext cx="4889101" cy="4973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2326D84-5E9B-2D1A-3F4C-1FB8D60E6EC8}"/>
              </a:ext>
            </a:extLst>
          </p:cNvPr>
          <p:cNvSpPr txBox="1"/>
          <p:nvPr/>
        </p:nvSpPr>
        <p:spPr>
          <a:xfrm>
            <a:off x="5182387" y="1620677"/>
            <a:ext cx="4689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C458C4-193C-F2B6-207C-D1BDC239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620" y="2191619"/>
            <a:ext cx="3469064" cy="440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07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025F-94B0-8621-8FDD-75E5AB840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DBDE6-CD65-F861-AECF-609E0A189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71" y="1807342"/>
            <a:ext cx="2664183" cy="695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62F2A0-F77E-09C4-87BC-D5356BE47D0B}"/>
              </a:ext>
            </a:extLst>
          </p:cNvPr>
          <p:cNvSpPr txBox="1"/>
          <p:nvPr/>
        </p:nvSpPr>
        <p:spPr>
          <a:xfrm>
            <a:off x="772998" y="1804987"/>
            <a:ext cx="1291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F3F4A2-9145-42E6-CDE1-FB1221BCC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71" y="2502347"/>
            <a:ext cx="2670279" cy="28897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686C30-320C-D0A3-6E2C-936F77070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56" y="2880258"/>
            <a:ext cx="2469094" cy="33348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9DE9AE-6FF5-89A6-3032-1B1829DED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908" y="1807342"/>
            <a:ext cx="2664183" cy="6950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4B548F-A2D3-3F6B-7610-60BE8458BB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812" y="2496282"/>
            <a:ext cx="2670279" cy="289585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D944683-C6AD-5AA9-7438-FA962078E8D5}"/>
              </a:ext>
            </a:extLst>
          </p:cNvPr>
          <p:cNvSpPr txBox="1"/>
          <p:nvPr/>
        </p:nvSpPr>
        <p:spPr>
          <a:xfrm>
            <a:off x="3187095" y="1863023"/>
            <a:ext cx="4751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Clinical</a:t>
            </a:r>
          </a:p>
          <a:p>
            <a:r>
              <a:rPr lang="en-IN" b="1" dirty="0"/>
              <a:t>Decision Support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DAAB83-D864-4640-B2AC-E40C18B4CE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3812" y="2973880"/>
            <a:ext cx="2475191" cy="274953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0067CC7-C83F-90D8-7B2D-088E6F0FB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810" y="1814747"/>
            <a:ext cx="2664183" cy="69500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7CE0EEE-CCAB-4A04-703E-D421096AEE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9040" y="1858597"/>
            <a:ext cx="4804064" cy="77425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FECFBAB-EA2A-7B82-489E-65FCC4ABD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040" y="2509354"/>
            <a:ext cx="2670279" cy="283853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7591396-25FB-C55A-C4EE-4B594315DE98}"/>
              </a:ext>
            </a:extLst>
          </p:cNvPr>
          <p:cNvSpPr txBox="1"/>
          <p:nvPr/>
        </p:nvSpPr>
        <p:spPr>
          <a:xfrm>
            <a:off x="5996007" y="2880258"/>
            <a:ext cx="24786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high-risk patients early using ML models, enabling timely intervention and improved survival outcomes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37453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A7FA-C067-5415-0ADB-A1CFFB2F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Conclusion &amp; Future Scope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02EF1B-0AE8-FBEF-888A-60939A48E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97" y="1769426"/>
            <a:ext cx="4133446" cy="377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F3872F-C33C-613B-5B97-F2874A526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2401548"/>
            <a:ext cx="4121253" cy="27434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1425AA-FDD4-DE0D-568D-EFD366D43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040" y="1776495"/>
            <a:ext cx="4041998" cy="377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4364CB-4BA9-7368-E1E1-3AED18CA0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9544" y="2311874"/>
            <a:ext cx="4023709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93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E442-CDE7-64A8-C98C-B7EDCB0C4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961AC-BA12-EC4E-DF5F-4DDB3EE934F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39365" y="1498862"/>
            <a:ext cx="8347075" cy="4082938"/>
          </a:xfrm>
        </p:spPr>
        <p:txBody>
          <a:bodyPr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</a:t>
            </a: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1] Smith et al., "HRCT-based SVM classification for interstitial lung disease detection," IEEE J. Biomedical Informatics, 2018.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Brown &amp; Wilson, "Random Forest model for morphological lung pattern analysis," Expert Systems with Applications, 2019.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Patel et al., "Logistic Regression with PCA for lung cancer risk assessment," Applied Soft Computing, 2020.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Li et al., "K-Nearest Neighbors for early lung cancer screening," Computers in Biology and Medicine, 2021.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Pandey et al., "Comparative study: RF, SVM, KNN for pulmonary disease classification," ICCIDS, Springer, 2021.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Breiman, "Random Forests," Machine Learning, vol. 45, no. 1, pp. 5-32, 2001.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Chawla et al., "SMOTE: Synthetic minority over-sampling technique," JAIR, vol. 16, pp. 321-357, 2002.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Freund &amp; Schapire, "A decision-theoretic generalization of on-line learning and AdaBoost," J. Computer &amp; System Sciences, 1997.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Kaggle Lung Cancer Dataset, mysarahmadbhat, Available: https://www.kaggle.com/datasets/mysarahmadbhat/lung-cancer, 2023.</a:t>
            </a:r>
            <a:endParaRPr lang="en-US" sz="14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93525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0BE793-0E86-8E88-8B19-7181DD74BD9D}"/>
              </a:ext>
            </a:extLst>
          </p:cNvPr>
          <p:cNvSpPr/>
          <p:nvPr/>
        </p:nvSpPr>
        <p:spPr>
          <a:xfrm>
            <a:off x="8327211" y="6305914"/>
            <a:ext cx="315326" cy="2768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34805</TotalTime>
  <Words>1038</Words>
  <Application>Microsoft Office PowerPoint</Application>
  <PresentationFormat>On-screen Show (4:3)</PresentationFormat>
  <Paragraphs>131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Contents</vt:lpstr>
      <vt:lpstr>PowerPoint Presentation</vt:lpstr>
      <vt:lpstr>Literature Review</vt:lpstr>
      <vt:lpstr>Tools And Technologies</vt:lpstr>
      <vt:lpstr>Machine Learning Models Used</vt:lpstr>
      <vt:lpstr>Methodology: Dataset &amp; Pre-processing Pipeline </vt:lpstr>
      <vt:lpstr> Results: Classifier Accuracy Comparison </vt:lpstr>
      <vt:lpstr> Why Random Forest Achieved Higher Accuracy </vt:lpstr>
      <vt:lpstr> Results: Performance Metrics With SMOTE Balancing </vt:lpstr>
      <vt:lpstr>Applications</vt:lpstr>
      <vt:lpstr>Conclusion &amp; Future Scope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Meharjot  Lamba</cp:lastModifiedBy>
  <cp:revision>2303</cp:revision>
  <dcterms:created xsi:type="dcterms:W3CDTF">2010-04-09T07:36:15Z</dcterms:created>
  <dcterms:modified xsi:type="dcterms:W3CDTF">2026-05-18T05:02:44Z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